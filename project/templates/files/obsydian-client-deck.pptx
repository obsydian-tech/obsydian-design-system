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bracketed text. Keep the second line short: it sets in violet.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OBS-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OBS-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OBS-Content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OBS-Closing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nrymhene/Documents/obsydian/obsydian-design-system/project/templates/assets/logo-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2468880" cy="228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nrymhene/Documents/obsydian/obsydian-design-system/project/templates/assets/logo-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975104" cy="1828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nrymhene/Documents/obsydian/obsydian-design-system/project/templates/assets/logo-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975104" cy="182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6419088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OBSYDIAN TECHNOLOGIES PTY LTD  ·  OBSYDIANTECHNOLOGIES.COM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685800" y="6254496"/>
            <a:ext cx="10820095" cy="0"/>
          </a:xfrm>
          <a:prstGeom prst="line">
            <a:avLst/>
          </a:prstGeom>
          <a:noFill/>
          <a:ln w="9525">
            <a:solidFill>
              <a:srgbClr val="23232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S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henrymhene/Documents/obsydian/obsydian-design-system/project/templates/assets/logo-b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2468880" cy="228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40030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233172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PROPOSAL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269748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spc="-162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[Project name]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spc="-162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for [Client name]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85800" y="5257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PREPARED FOR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5486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[Client name]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5257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PREPARED BY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063240" y="5486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Obsydian Technologies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40680" y="52578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40680" y="5486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[October 2026]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AGENDA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45720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What we will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cover today.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035040" y="1600200"/>
            <a:ext cx="54864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0" y="1783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Where you are today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35040" y="2350008"/>
            <a:ext cx="54864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5328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What we propose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35040" y="3099816"/>
            <a:ext cx="54864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331927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32826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How we will deliver it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3849624"/>
            <a:ext cx="54864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4069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40325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Timeline and investment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035040" y="4599432"/>
            <a:ext cx="54864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4818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spc="-4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035040" y="5349240"/>
            <a:ext cx="54864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spc="-400" kern="0" dirty="0">
                <a:solidFill>
                  <a:srgbClr val="9318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685800" y="329184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400" spc="-192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Where you</a:t>
            </a:r>
            <a:endParaRPr lang="en-US" sz="6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400" spc="-192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are today.</a:t>
            </a:r>
            <a:endParaRPr lang="en-US" sz="6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WHAT WE HEARD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spc="-138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“We cannot see our position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spc="-138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until the end of the month.”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39776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Two or three sentences on the situation, in the client's own words where you can. This is the slide where they decide we listened.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5120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[Name, Title, Client]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WHAT WE PROPOSE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Three things,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in this order.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3332378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93192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 foundation that lasts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452628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 cloud platform, pipelines and observability your team can run with confidence.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2498" y="3383280"/>
            <a:ext cx="3332378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2498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2498" y="393192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The first release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92498" y="452628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The workflow that matters most, live in production in twelve weeks.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99197" y="3383280"/>
            <a:ext cx="3332378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9197" y="3566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99197" y="3931920"/>
            <a:ext cx="3240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 team that stays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99197" y="4526280"/>
            <a:ext cx="31494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 operate, measure and improve it with you after launch.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HOW WE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From discovery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to long-term partnership.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3246120"/>
            <a:ext cx="1082009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429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3392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-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Discovery and strategy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06440" y="34290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Clarity on the problem, the architecture and the outcome.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3867912"/>
            <a:ext cx="1082009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0507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08760" y="40142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-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Architecture and planning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806440" y="405079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 plan you can hold us to, with the risks named.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4489704"/>
            <a:ext cx="1082009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46360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-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Build and delivery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06440" y="46725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Releases you can see working every fortnight.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5111496"/>
            <a:ext cx="1082009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294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08760" y="5257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spc="-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Deployment and operations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806440" y="529437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Launch, monitoring and runbooks for your team.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733288"/>
            <a:ext cx="10820095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WHY OBSYDIAN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Built by people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who have done it before.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3332378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118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spc="-1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30+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4434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YEARS COMBINED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4754880"/>
            <a:ext cx="3149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Our founding engineers bring over three decades of platform builds and operations.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2498" y="3383280"/>
            <a:ext cx="3332378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2498" y="36118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spc="-1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Multi-sector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292498" y="4434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INDUSTRIES SERVED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92498" y="4754880"/>
            <a:ext cx="3149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Finance, fintech, hospitality and regulated markets.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99197" y="3383280"/>
            <a:ext cx="3332378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99197" y="3611880"/>
            <a:ext cx="33323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spc="-13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Proven impact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899197" y="44348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OUTCOMES OVER OUTPUTS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9197" y="4754880"/>
            <a:ext cx="3149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Every engagement is tracked to business results.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Twelve weeks,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in four phases.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3429000"/>
            <a:ext cx="1748485" cy="54864"/>
          </a:xfrm>
          <a:prstGeom prst="rect">
            <a:avLst/>
          </a:prstGeom>
          <a:solidFill>
            <a:srgbClr val="3A3A4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3657600"/>
            <a:ext cx="1666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Discovery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023360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 weeks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343400"/>
            <a:ext cx="16204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Target architecture and plan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9149" y="3429000"/>
            <a:ext cx="5355184" cy="54864"/>
          </a:xfrm>
          <a:prstGeom prst="rect">
            <a:avLst/>
          </a:prstGeom>
          <a:solidFill>
            <a:srgbClr val="9318FF"/>
          </a:solidFill>
          <a:ln/>
        </p:spPr>
      </p:sp>
      <p:sp>
        <p:nvSpPr>
          <p:cNvPr id="10" name="Text 8"/>
          <p:cNvSpPr/>
          <p:nvPr/>
        </p:nvSpPr>
        <p:spPr>
          <a:xfrm>
            <a:off x="2489149" y="3657600"/>
            <a:ext cx="5272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Build: release 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89149" y="4023360"/>
            <a:ext cx="527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6 weeks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9149" y="4343400"/>
            <a:ext cx="522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 working build every fortnight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99197" y="3429000"/>
            <a:ext cx="1748485" cy="54864"/>
          </a:xfrm>
          <a:prstGeom prst="rect">
            <a:avLst/>
          </a:prstGeom>
          <a:solidFill>
            <a:srgbClr val="3A3A40"/>
          </a:solidFill>
          <a:ln/>
        </p:spPr>
      </p:sp>
      <p:sp>
        <p:nvSpPr>
          <p:cNvPr id="14" name="Text 12"/>
          <p:cNvSpPr/>
          <p:nvPr/>
        </p:nvSpPr>
        <p:spPr>
          <a:xfrm>
            <a:off x="7899197" y="3657600"/>
            <a:ext cx="1666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Hardening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99197" y="4023360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 weeks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99197" y="4343400"/>
            <a:ext cx="16204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Load, security and failure tests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702546" y="3429000"/>
            <a:ext cx="1748485" cy="54864"/>
          </a:xfrm>
          <a:prstGeom prst="rect">
            <a:avLst/>
          </a:prstGeom>
          <a:solidFill>
            <a:srgbClr val="3A3A40"/>
          </a:solidFill>
          <a:ln/>
        </p:spPr>
      </p:sp>
      <p:sp>
        <p:nvSpPr>
          <p:cNvPr id="18" name="Text 16"/>
          <p:cNvSpPr/>
          <p:nvPr/>
        </p:nvSpPr>
        <p:spPr>
          <a:xfrm>
            <a:off x="9702546" y="3657600"/>
            <a:ext cx="166618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Launch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702546" y="4023360"/>
            <a:ext cx="16661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2 weeks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702546" y="4343400"/>
            <a:ext cx="16204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Production, runbooks, training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YOUR 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The people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you will work with.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85800" y="3383280"/>
            <a:ext cx="2476424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[Name]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ENGAGEMENT LEAD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4389120"/>
            <a:ext cx="233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Scope, plan and your single point of contact.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0824" y="3383280"/>
            <a:ext cx="2476424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0824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[Name]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90824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LEAD ENGINEER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90824" y="4389120"/>
            <a:ext cx="233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Architecture and technical decisions.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5848" y="3383280"/>
            <a:ext cx="2476424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5848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[Name]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95848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ENGINEER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5848" y="4389120"/>
            <a:ext cx="233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Build, tests and the delivery pipeline.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00871" y="3383280"/>
            <a:ext cx="2476424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00871" y="3611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[Name]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00871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CLOUD ENGINEER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00871" y="4389120"/>
            <a:ext cx="233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Environments, security and operations.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CASE STUDY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spc="-102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[Client or platform]</a:t>
            </a:r>
            <a:endParaRPr lang="en-US" sz="3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400" spc="-102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[The outcome, in one line.]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3429000"/>
            <a:ext cx="539496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5935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14600" y="35478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What was broken, slow or missing, and what it cost.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4206240"/>
            <a:ext cx="539496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370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WHAT WE BUILT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432511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The platform, in a sentence a buyer understands.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4983480"/>
            <a:ext cx="539496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48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51023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 number: time saved, revenue kept, costs gone.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1234440"/>
            <a:ext cx="4800600" cy="4480560"/>
          </a:xfrm>
          <a:prstGeom prst="rect">
            <a:avLst/>
          </a:prstGeom>
          <a:solidFill>
            <a:srgbClr val="131316"/>
          </a:solidFill>
          <a:ln w="9525">
            <a:solidFill>
              <a:srgbClr val="2A2A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234440"/>
            <a:ext cx="48006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Screenshot or product photo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86866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(replace this frame)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What it costs,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and what you get for it.</a:t>
            </a:r>
            <a:endParaRPr lang="en-US" sz="4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3246120"/>
          <a:ext cx="10820095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377440"/>
                <a:gridCol w="240761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40" kern="0" dirty="0">
                          <a:solidFill>
                            <a:srgbClr val="686866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PHASE</a:t>
                      </a:r>
                      <a:endParaRPr lang="en-US" sz="9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spc="140" kern="0" dirty="0">
                          <a:solidFill>
                            <a:srgbClr val="686866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DURATION</a:t>
                      </a:r>
                      <a:endParaRPr lang="en-US" sz="9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spc="140" kern="0" dirty="0">
                          <a:solidFill>
                            <a:srgbClr val="686866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AMOUNT (EX GST)</a:t>
                      </a:r>
                      <a:endParaRPr lang="en-US" sz="9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F5F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5F4EF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Discovery and architecture</a:t>
                      </a:r>
                      <a:endParaRPr lang="en-US" sz="16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9C9B98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2 weeks</a:t>
                      </a:r>
                      <a:endParaRPr lang="en-US" sz="16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9C9B98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$18,500</a:t>
                      </a:r>
                      <a:endParaRPr lang="en-US" sz="16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5F4EF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Build: release one</a:t>
                      </a:r>
                      <a:endParaRPr lang="en-US" sz="16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9C9B98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8 weeks</a:t>
                      </a:r>
                      <a:endParaRPr lang="en-US" sz="16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9C9B98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$96,000</a:t>
                      </a:r>
                      <a:endParaRPr lang="en-US" sz="16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5F4EF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Launch and handover</a:t>
                      </a:r>
                      <a:endParaRPr lang="en-US" sz="16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9C9B98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2 weeks</a:t>
                      </a:r>
                      <a:endParaRPr lang="en-US" sz="16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9C9B98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$14,000</a:t>
                      </a:r>
                      <a:endParaRPr lang="en-US" sz="16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0" marR="0" marT="73152" marB="7315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2A2A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5F4EF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Total ex GST</a:t>
                      </a:r>
                      <a:endParaRPr lang="en-US" sz="12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600" dirty="0">
                          <a:solidFill>
                            <a:srgbClr val="F5F4EF"/>
                          </a:solidFill>
                          <a:latin typeface="General Sans Medium" pitchFamily="34" charset="0"/>
                          <a:ea typeface="General Sans Medium" pitchFamily="34" charset="-122"/>
                          <a:cs typeface="General Sans Medium" pitchFamily="34" charset="-120"/>
                        </a:rPr>
                        <a:t>$128,500</a:t>
                      </a:r>
                      <a:endParaRPr lang="en-US" sz="2600" dirty="0">
                        <a:latin typeface="General Sans Medium" charset="0"/>
                        <a:ea typeface="General Sans Medium" charset="0"/>
                        <a:cs typeface="General Sans Medium" charset="0"/>
                      </a:endParaRPr>
                    </a:p>
                  </a:txBody>
                  <a:tcPr marL="0" marR="0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0302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23444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SECTION LABEL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8229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A headline that says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spc="-12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the point of the slide.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33832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C9B98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Body copy at 16pt in bone-dim. One idea per slide. If it needs more than three short paragraphs, it is two slides.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57255" y="6400800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86866"/>
                </a:solidFill>
                <a:latin typeface="General Sans Medium"/>
                <a:ea typeface="General Sans Medium"/>
                <a:cs typeface="General Sans Medium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805940"/>
            <a:ext cx="384048" cy="0"/>
          </a:xfrm>
          <a:prstGeom prst="line">
            <a:avLst/>
          </a:prstGeom>
          <a:noFill/>
          <a:ln w="15875">
            <a:solidFill>
              <a:srgbClr val="931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16152" y="1737360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C9B98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6000" spc="-180" kern="0" dirty="0">
                <a:solidFill>
                  <a:srgbClr val="F5F4E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Have a platform</a:t>
            </a:r>
            <a:endParaRPr lang="en-US" sz="6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000" spc="-180" kern="0" dirty="0">
                <a:solidFill>
                  <a:srgbClr val="B25CFF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worth building?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685800" y="4892040"/>
            <a:ext cx="27432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507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CONTACT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85800" y="5349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[Your name]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[you@obsydiantechnologies.com]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94760" y="4892040"/>
            <a:ext cx="27432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507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PARTNERSHIPS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94760" y="5349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partner@obsydiantechnologies.com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03720" y="4892040"/>
            <a:ext cx="2743200" cy="0"/>
          </a:xfrm>
          <a:prstGeom prst="line">
            <a:avLst/>
          </a:prstGeom>
          <a:noFill/>
          <a:ln w="9525">
            <a:solidFill>
              <a:srgbClr val="2A2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507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86866"/>
                </a:solidFill>
                <a:latin typeface="General Sans Medium" pitchFamily="34" charset="0"/>
                <a:ea typeface="General Sans Medium" pitchFamily="34" charset="-122"/>
                <a:cs typeface="General Sans Medium" pitchFamily="34" charset="-120"/>
              </a:rPr>
              <a:t>WEB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903720" y="5349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4EF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obsydiantechnologies.com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neral Sans Medium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neral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Obsydian Technologies Pty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Obsydian client deck</dc:title>
  <dc:subject>PptxGenJS Presentation</dc:subject>
  <dc:creator>Obsydian Technologies</dc:creator>
  <cp:lastModifiedBy>Obsydian Technologies</cp:lastModifiedBy>
  <cp:revision>1</cp:revision>
  <dcterms:created xsi:type="dcterms:W3CDTF">2026-10-09T11:28:42Z</dcterms:created>
  <dcterms:modified xsi:type="dcterms:W3CDTF">2026-10-09T11:28:42Z</dcterms:modified>
</cp:coreProperties>
</file>